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0"/>
  </p:notesMasterIdLst>
  <p:handoutMasterIdLst>
    <p:handoutMasterId r:id="rId11"/>
  </p:handoutMasterIdLst>
  <p:sldIdLst>
    <p:sldId id="312" r:id="rId5"/>
    <p:sldId id="304" r:id="rId6"/>
    <p:sldId id="307" r:id="rId7"/>
    <p:sldId id="281" r:id="rId8"/>
    <p:sldId id="282" r:id="rId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82" d="100"/>
          <a:sy n="82" d="100"/>
        </p:scale>
        <p:origin x="720" y="67"/>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Local </a:t>
            </a:r>
            <a:br>
              <a:rPr lang="en-US" dirty="0"/>
            </a:br>
            <a:r>
              <a:rPr lang="en-US" dirty="0"/>
              <a:t>ambassador strategy pitch</a:t>
            </a:r>
          </a:p>
        </p:txBody>
      </p:sp>
      <p:sp>
        <p:nvSpPr>
          <p:cNvPr id="3" name="Rectangle 2">
            <a:extLst>
              <a:ext uri="{FF2B5EF4-FFF2-40B4-BE49-F238E27FC236}">
                <a16:creationId xmlns:a16="http://schemas.microsoft.com/office/drawing/2014/main" id="{F573E9CF-A189-B2E2-D64F-1D6F37BDE605}"/>
              </a:ext>
            </a:extLst>
          </p:cNvPr>
          <p:cNvSpPr/>
          <p:nvPr/>
        </p:nvSpPr>
        <p:spPr>
          <a:xfrm>
            <a:off x="5110059" y="3872204"/>
            <a:ext cx="1971886"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Created by - VARAD</a:t>
            </a:r>
            <a:endParaRPr lang="en-US" sz="16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447869" y="457199"/>
            <a:ext cx="6634067" cy="5840964"/>
          </a:xfrm>
        </p:spPr>
        <p:txBody>
          <a:bodyPr>
            <a:normAutofit fontScale="32500" lnSpcReduction="20000"/>
          </a:bodyPr>
          <a:lstStyle/>
          <a:p>
            <a:pPr>
              <a:lnSpc>
                <a:spcPct val="170000"/>
              </a:lnSpc>
            </a:pPr>
            <a:r>
              <a:rPr lang="en-US" sz="5500" b="1" dirty="0">
                <a:solidFill>
                  <a:schemeClr val="tx1"/>
                </a:solidFill>
                <a:latin typeface="Arial" panose="020B0604020202020204" pitchFamily="34" charset="0"/>
                <a:cs typeface="Arial" panose="020B0604020202020204" pitchFamily="34" charset="0"/>
              </a:rPr>
              <a:t>Ambassador Strategy Overview</a:t>
            </a:r>
            <a:br>
              <a:rPr lang="en-US" sz="4000" dirty="0">
                <a:solidFill>
                  <a:schemeClr val="tx1"/>
                </a:solidFill>
                <a:latin typeface="Arial" panose="020B0604020202020204" pitchFamily="34" charset="0"/>
                <a:cs typeface="Arial" panose="020B0604020202020204" pitchFamily="34" charset="0"/>
              </a:rPr>
            </a:br>
            <a:r>
              <a:rPr lang="en-US" sz="4000" dirty="0">
                <a:solidFill>
                  <a:schemeClr val="tx1"/>
                </a:solidFill>
                <a:latin typeface="Arial" panose="020B0604020202020204" pitchFamily="34" charset="0"/>
                <a:cs typeface="Arial" panose="020B0604020202020204" pitchFamily="34" charset="0"/>
              </a:rPr>
              <a:t>Our strategy focuses on leveraging hyperlocal brand ambassadors to create authentic, community-driven engagement. By partnering with trusted local voices like Jordan Ellis, we aim to bridge the gap between national brand messaging and real neighborhood impact.</a:t>
            </a:r>
          </a:p>
          <a:p>
            <a:pPr>
              <a:lnSpc>
                <a:spcPct val="170000"/>
              </a:lnSpc>
            </a:pPr>
            <a:endParaRPr lang="en-US" sz="4000" dirty="0">
              <a:solidFill>
                <a:schemeClr val="tx1"/>
              </a:solidFill>
              <a:latin typeface="Arial" panose="020B0604020202020204" pitchFamily="34" charset="0"/>
              <a:cs typeface="Arial" panose="020B0604020202020204" pitchFamily="34" charset="0"/>
            </a:endParaRPr>
          </a:p>
          <a:p>
            <a:pPr>
              <a:lnSpc>
                <a:spcPct val="170000"/>
              </a:lnSpc>
            </a:pPr>
            <a:r>
              <a:rPr lang="en-US" sz="5500" b="1" dirty="0">
                <a:solidFill>
                  <a:schemeClr val="tx1"/>
                </a:solidFill>
                <a:latin typeface="Arial" panose="020B0604020202020204" pitchFamily="34" charset="0"/>
                <a:cs typeface="Arial" panose="020B0604020202020204" pitchFamily="34" charset="0"/>
              </a:rPr>
              <a:t>Why Hyperlocal Marketing Matters</a:t>
            </a:r>
            <a:br>
              <a:rPr lang="en-US" sz="4000" dirty="0">
                <a:solidFill>
                  <a:schemeClr val="tx1"/>
                </a:solidFill>
                <a:latin typeface="Arial" panose="020B0604020202020204" pitchFamily="34" charset="0"/>
                <a:cs typeface="Arial" panose="020B0604020202020204" pitchFamily="34" charset="0"/>
              </a:rPr>
            </a:br>
            <a:r>
              <a:rPr lang="en-US" sz="4000" dirty="0">
                <a:solidFill>
                  <a:schemeClr val="tx1"/>
                </a:solidFill>
                <a:latin typeface="Arial" panose="020B0604020202020204" pitchFamily="34" charset="0"/>
                <a:cs typeface="Arial" panose="020B0604020202020204" pitchFamily="34" charset="0"/>
              </a:rPr>
              <a:t>Hyperlocal marketing builds stronger customer relationships by connecting with people where they live, train, and shop. It transforms broad campaigns into personal experiences, making the brand feel relatable, accessible, and relevant in each community.</a:t>
            </a:r>
          </a:p>
          <a:p>
            <a:pPr>
              <a:lnSpc>
                <a:spcPct val="170000"/>
              </a:lnSpc>
            </a:pPr>
            <a:endParaRPr lang="en-US" sz="4000" dirty="0">
              <a:solidFill>
                <a:schemeClr val="tx1"/>
              </a:solidFill>
              <a:latin typeface="Arial" panose="020B0604020202020204" pitchFamily="34" charset="0"/>
              <a:cs typeface="Arial" panose="020B0604020202020204" pitchFamily="34" charset="0"/>
            </a:endParaRPr>
          </a:p>
          <a:p>
            <a:pPr>
              <a:lnSpc>
                <a:spcPct val="170000"/>
              </a:lnSpc>
            </a:pPr>
            <a:r>
              <a:rPr lang="en-US" sz="5500" b="1" dirty="0">
                <a:solidFill>
                  <a:schemeClr val="tx1"/>
                </a:solidFill>
                <a:latin typeface="Arial" panose="020B0604020202020204" pitchFamily="34" charset="0"/>
                <a:cs typeface="Arial" panose="020B0604020202020204" pitchFamily="34" charset="0"/>
              </a:rPr>
              <a:t>How Local Ambassadors Drive Growth</a:t>
            </a:r>
            <a:br>
              <a:rPr lang="en-US" sz="5500" b="1" dirty="0">
                <a:solidFill>
                  <a:schemeClr val="tx1"/>
                </a:solidFill>
                <a:latin typeface="Arial" panose="020B0604020202020204" pitchFamily="34" charset="0"/>
                <a:cs typeface="Arial" panose="020B0604020202020204" pitchFamily="34" charset="0"/>
              </a:rPr>
            </a:br>
            <a:r>
              <a:rPr lang="en-US" sz="4000" dirty="0">
                <a:solidFill>
                  <a:schemeClr val="tx1"/>
                </a:solidFill>
                <a:latin typeface="Arial" panose="020B0604020202020204" pitchFamily="34" charset="0"/>
                <a:cs typeface="Arial" panose="020B0604020202020204" pitchFamily="34" charset="0"/>
              </a:rPr>
              <a:t>Local ambassadors translate brand values into real-world action — hosting community events, creating relatable local content, and driving store visits through genuine, personal connections. Their credibility turns awareness into loyalty and engagement into measurable store traffic.</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357209" y="447869"/>
            <a:ext cx="5723586" cy="5315535"/>
          </a:xfrm>
        </p:spPr>
        <p:txBody>
          <a:bodyPr/>
          <a:lstStyle/>
          <a:p>
            <a:pPr>
              <a:lnSpc>
                <a:spcPct val="150000"/>
              </a:lnSpc>
            </a:pPr>
            <a:r>
              <a:rPr lang="en-US" sz="1800" dirty="0">
                <a:solidFill>
                  <a:schemeClr val="tx1"/>
                </a:solidFill>
                <a:latin typeface="Arial" panose="020B0604020202020204" pitchFamily="34" charset="0"/>
                <a:cs typeface="Arial" panose="020B0604020202020204" pitchFamily="34" charset="0"/>
              </a:rPr>
              <a:t>name: </a:t>
            </a:r>
            <a:r>
              <a:rPr lang="en-US" sz="1400" b="0" dirty="0">
                <a:solidFill>
                  <a:schemeClr val="tx1"/>
                </a:solidFill>
                <a:latin typeface="Arial" panose="020B0604020202020204" pitchFamily="34" charset="0"/>
                <a:cs typeface="Arial" panose="020B0604020202020204" pitchFamily="34" charset="0"/>
              </a:rPr>
              <a:t>Jordan Ellis – Austin, TX</a:t>
            </a:r>
            <a:br>
              <a:rPr lang="en-US" sz="1400" b="0" dirty="0">
                <a:solidFill>
                  <a:schemeClr val="tx1"/>
                </a:solidFill>
                <a:latin typeface="Arial" panose="020B0604020202020204" pitchFamily="34" charset="0"/>
                <a:cs typeface="Arial" panose="020B0604020202020204" pitchFamily="34" charset="0"/>
              </a:rPr>
            </a:br>
            <a:r>
              <a:rPr lang="en-US" sz="1800" dirty="0">
                <a:solidFill>
                  <a:schemeClr val="tx1"/>
                </a:solidFill>
                <a:latin typeface="Arial" panose="020B0604020202020204" pitchFamily="34" charset="0"/>
                <a:cs typeface="Arial" panose="020B0604020202020204" pitchFamily="34" charset="0"/>
              </a:rPr>
              <a:t>Profession</a:t>
            </a:r>
            <a:r>
              <a:rPr lang="en-US" sz="1400" b="0" dirty="0">
                <a:solidFill>
                  <a:schemeClr val="tx1"/>
                </a:solidFill>
                <a:latin typeface="Arial" panose="020B0604020202020204" pitchFamily="34" charset="0"/>
                <a:cs typeface="Arial" panose="020B0604020202020204" pitchFamily="34" charset="0"/>
              </a:rPr>
              <a:t>: Track coach &amp; wellness creator</a:t>
            </a:r>
            <a:br>
              <a:rPr lang="en-US" sz="1400" b="0" dirty="0">
                <a:solidFill>
                  <a:schemeClr val="tx1"/>
                </a:solidFill>
                <a:latin typeface="Arial" panose="020B0604020202020204" pitchFamily="34" charset="0"/>
                <a:cs typeface="Arial" panose="020B0604020202020204" pitchFamily="34" charset="0"/>
              </a:rPr>
            </a:br>
            <a:r>
              <a:rPr lang="en-US" sz="1800" dirty="0">
                <a:solidFill>
                  <a:schemeClr val="tx1"/>
                </a:solidFill>
                <a:latin typeface="Arial" panose="020B0604020202020204" pitchFamily="34" charset="0"/>
                <a:cs typeface="Arial" panose="020B0604020202020204" pitchFamily="34" charset="0"/>
              </a:rPr>
              <a:t>Content: </a:t>
            </a:r>
            <a:r>
              <a:rPr lang="en-US" sz="1400" b="0" dirty="0">
                <a:solidFill>
                  <a:schemeClr val="tx1"/>
                </a:solidFill>
                <a:latin typeface="Arial" panose="020B0604020202020204" pitchFamily="34" charset="0"/>
                <a:cs typeface="Arial" panose="020B0604020202020204" pitchFamily="34" charset="0"/>
              </a:rPr>
              <a:t>Fitness, mindfulness, and recovery tips</a:t>
            </a:r>
            <a:br>
              <a:rPr lang="en-US" sz="1400" b="0" dirty="0">
                <a:solidFill>
                  <a:schemeClr val="tx1"/>
                </a:solidFill>
                <a:latin typeface="Arial" panose="020B0604020202020204" pitchFamily="34" charset="0"/>
                <a:cs typeface="Arial" panose="020B0604020202020204" pitchFamily="34" charset="0"/>
              </a:rPr>
            </a:br>
            <a:r>
              <a:rPr lang="en-US" sz="1800" dirty="0">
                <a:solidFill>
                  <a:schemeClr val="tx1"/>
                </a:solidFill>
                <a:latin typeface="Arial" panose="020B0604020202020204" pitchFamily="34" charset="0"/>
                <a:cs typeface="Arial" panose="020B0604020202020204" pitchFamily="34" charset="0"/>
              </a:rPr>
              <a:t>Audience: </a:t>
            </a:r>
            <a:r>
              <a:rPr lang="en-US" sz="1400" b="0" dirty="0">
                <a:solidFill>
                  <a:schemeClr val="tx1"/>
                </a:solidFill>
                <a:latin typeface="Arial" panose="020B0604020202020204" pitchFamily="34" charset="0"/>
                <a:cs typeface="Arial" panose="020B0604020202020204" pitchFamily="34" charset="0"/>
              </a:rPr>
              <a:t>~</a:t>
            </a:r>
            <a:r>
              <a:rPr lang="en-US" sz="1400" b="0" dirty="0" err="1">
                <a:solidFill>
                  <a:schemeClr val="tx1"/>
                </a:solidFill>
                <a:latin typeface="Arial" panose="020B0604020202020204" pitchFamily="34" charset="0"/>
                <a:cs typeface="Arial" panose="020B0604020202020204" pitchFamily="34" charset="0"/>
              </a:rPr>
              <a:t>28K</a:t>
            </a:r>
            <a:r>
              <a:rPr lang="en-US" sz="1400" b="0" dirty="0">
                <a:solidFill>
                  <a:schemeClr val="tx1"/>
                </a:solidFill>
                <a:latin typeface="Arial" panose="020B0604020202020204" pitchFamily="34" charset="0"/>
                <a:cs typeface="Arial" panose="020B0604020202020204" pitchFamily="34" charset="0"/>
              </a:rPr>
              <a:t> (ages 18–35), active and engaged local community</a:t>
            </a:r>
            <a:br>
              <a:rPr lang="en-US" sz="1400" b="0" dirty="0">
                <a:solidFill>
                  <a:schemeClr val="tx1"/>
                </a:solidFill>
                <a:latin typeface="Arial" panose="020B0604020202020204" pitchFamily="34" charset="0"/>
                <a:cs typeface="Arial" panose="020B0604020202020204" pitchFamily="34" charset="0"/>
              </a:rPr>
            </a:br>
            <a:r>
              <a:rPr lang="en-US" sz="1800" dirty="0">
                <a:solidFill>
                  <a:schemeClr val="tx1"/>
                </a:solidFill>
                <a:latin typeface="Arial" panose="020B0604020202020204" pitchFamily="34" charset="0"/>
                <a:cs typeface="Arial" panose="020B0604020202020204" pitchFamily="34" charset="0"/>
              </a:rPr>
              <a:t>Brand Fit: </a:t>
            </a:r>
            <a:r>
              <a:rPr lang="en-US" sz="1400" b="0" dirty="0">
                <a:solidFill>
                  <a:schemeClr val="tx1"/>
                </a:solidFill>
                <a:latin typeface="Arial" panose="020B0604020202020204" pitchFamily="34" charset="0"/>
                <a:cs typeface="Arial" panose="020B0604020202020204" pitchFamily="34" charset="0"/>
              </a:rPr>
              <a:t>Promotes inclusion, confidence, and well-being</a:t>
            </a:r>
            <a:br>
              <a:rPr lang="en-US" sz="1400" b="0" dirty="0">
                <a:solidFill>
                  <a:schemeClr val="tx1"/>
                </a:solidFill>
                <a:latin typeface="Arial" panose="020B0604020202020204" pitchFamily="34" charset="0"/>
                <a:cs typeface="Arial" panose="020B0604020202020204" pitchFamily="34" charset="0"/>
              </a:rPr>
            </a:br>
            <a:r>
              <a:rPr lang="en-US" sz="1800" dirty="0">
                <a:solidFill>
                  <a:schemeClr val="tx1"/>
                </a:solidFill>
                <a:latin typeface="Arial" panose="020B0604020202020204" pitchFamily="34" charset="0"/>
                <a:cs typeface="Arial" panose="020B0604020202020204" pitchFamily="34" charset="0"/>
              </a:rPr>
              <a:t>Community Role: </a:t>
            </a:r>
            <a:r>
              <a:rPr lang="en-US" sz="1400" b="0" dirty="0">
                <a:solidFill>
                  <a:schemeClr val="tx1"/>
                </a:solidFill>
                <a:latin typeface="Arial" panose="020B0604020202020204" pitchFamily="34" charset="0"/>
                <a:cs typeface="Arial" panose="020B0604020202020204" pitchFamily="34" charset="0"/>
              </a:rPr>
              <a:t>Hosts “Mindful Miles” runs &amp; youth clinics</a:t>
            </a:r>
            <a:br>
              <a:rPr lang="en-US" sz="1400" b="0" dirty="0">
                <a:solidFill>
                  <a:schemeClr val="tx1"/>
                </a:solidFill>
                <a:latin typeface="Arial" panose="020B0604020202020204" pitchFamily="34" charset="0"/>
                <a:cs typeface="Arial" panose="020B0604020202020204" pitchFamily="34" charset="0"/>
              </a:rPr>
            </a:br>
            <a:r>
              <a:rPr lang="en-US" sz="1800" dirty="0">
                <a:solidFill>
                  <a:schemeClr val="tx1"/>
                </a:solidFill>
                <a:latin typeface="Arial" panose="020B0604020202020204" pitchFamily="34" charset="0"/>
                <a:cs typeface="Arial" panose="020B0604020202020204" pitchFamily="34" charset="0"/>
              </a:rPr>
              <a:t>Store Impact: </a:t>
            </a:r>
            <a:r>
              <a:rPr lang="en-US" sz="1400" b="0" dirty="0">
                <a:solidFill>
                  <a:schemeClr val="tx1"/>
                </a:solidFill>
                <a:latin typeface="Arial" panose="020B0604020202020204" pitchFamily="34" charset="0"/>
                <a:cs typeface="Arial" panose="020B0604020202020204" pitchFamily="34" charset="0"/>
              </a:rPr>
              <a:t>Leads “Train With Me” events and “Coach’s Picks” displays</a:t>
            </a:r>
            <a:br>
              <a:rPr lang="en-US" sz="1400" dirty="0">
                <a:latin typeface="Arial" panose="020B0604020202020204" pitchFamily="34" charset="0"/>
                <a:cs typeface="Arial" panose="020B0604020202020204" pitchFamily="34" charset="0"/>
              </a:rPr>
            </a:br>
            <a:endParaRPr lang="en-US" sz="1300" dirty="0">
              <a:latin typeface="Arial" panose="020B0604020202020204" pitchFamily="34" charset="0"/>
              <a:cs typeface="Arial" panose="020B0604020202020204" pitchFamily="34" charset="0"/>
            </a:endParaRPr>
          </a:p>
        </p:txBody>
      </p:sp>
      <p:pic>
        <p:nvPicPr>
          <p:cNvPr id="7" name="Picture Placeholder 6" descr="A person standing in front of a whiteboard">
            <a:extLst>
              <a:ext uri="{FF2B5EF4-FFF2-40B4-BE49-F238E27FC236}">
                <a16:creationId xmlns:a16="http://schemas.microsoft.com/office/drawing/2014/main" id="{DD186EAB-37C7-E7E6-AE8D-F077D02804F9}"/>
              </a:ext>
            </a:extLst>
          </p:cNvPr>
          <p:cNvPicPr>
            <a:picLocks noGrp="1" noChangeAspect="1"/>
          </p:cNvPicPr>
          <p:nvPr>
            <p:ph type="pic" sz="quarter" idx="11"/>
          </p:nvPr>
        </p:nvPicPr>
        <p:blipFill>
          <a:blip r:embed="rId3">
            <a:duotone>
              <a:prstClr val="black"/>
              <a:schemeClr val="accent1">
                <a:tint val="45000"/>
                <a:satMod val="400000"/>
              </a:schemeClr>
            </a:duotone>
          </a:blip>
          <a:srcRect l="27208" r="27208"/>
          <a:stretch/>
        </p:blipFill>
        <p:spPr>
          <a:xfrm>
            <a:off x="443345" y="0"/>
            <a:ext cx="4344695" cy="6359525"/>
          </a:xfrm>
        </p:spPr>
      </p:pic>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erson holding a microphone and standing in front of a group of people">
            <a:extLst>
              <a:ext uri="{FF2B5EF4-FFF2-40B4-BE49-F238E27FC236}">
                <a16:creationId xmlns:a16="http://schemas.microsoft.com/office/drawing/2014/main" id="{FECDA901-DD88-89EB-E10E-A2994D0A92DB}"/>
              </a:ext>
            </a:extLst>
          </p:cNvPr>
          <p:cNvPicPr>
            <a:picLocks noGrp="1" noChangeAspect="1"/>
          </p:cNvPicPr>
          <p:nvPr>
            <p:ph type="pic" sz="quarter" idx="11"/>
          </p:nvPr>
        </p:nvPicPr>
        <p:blipFill rotWithShape="1">
          <a:blip r:embed="rId3">
            <a:duotone>
              <a:prstClr val="black"/>
              <a:schemeClr val="accent3">
                <a:tint val="45000"/>
                <a:satMod val="400000"/>
              </a:schemeClr>
            </a:duotone>
          </a:blip>
          <a:srcRect l="27745" r="27745"/>
          <a:stretch/>
        </p:blipFill>
        <p:spPr>
          <a:xfrm>
            <a:off x="7414194" y="410780"/>
            <a:ext cx="4344695" cy="6447220"/>
          </a:xfrm>
        </p:spPr>
      </p:pic>
      <p:sp>
        <p:nvSpPr>
          <p:cNvPr id="8" name="TextBox 7">
            <a:extLst>
              <a:ext uri="{FF2B5EF4-FFF2-40B4-BE49-F238E27FC236}">
                <a16:creationId xmlns:a16="http://schemas.microsoft.com/office/drawing/2014/main" id="{A31F55A3-DF21-EBC3-8CDD-904C7FFCE0DB}"/>
              </a:ext>
            </a:extLst>
          </p:cNvPr>
          <p:cNvSpPr txBox="1"/>
          <p:nvPr/>
        </p:nvSpPr>
        <p:spPr>
          <a:xfrm>
            <a:off x="919065" y="1028343"/>
            <a:ext cx="6111550" cy="4801314"/>
          </a:xfrm>
          <a:prstGeom prst="rect">
            <a:avLst/>
          </a:prstGeom>
          <a:noFill/>
        </p:spPr>
        <p:txBody>
          <a:bodyPr wrap="square">
            <a:spAutoFit/>
          </a:bodyPr>
          <a:lstStyle/>
          <a:p>
            <a:pPr>
              <a:buNone/>
            </a:pPr>
            <a:r>
              <a:rPr lang="en-US" b="1" dirty="0"/>
              <a:t>Name: Maya Thompson </a:t>
            </a:r>
            <a:r>
              <a:rPr lang="en-IN" dirty="0"/>
              <a:t>– Seattle, WA</a:t>
            </a:r>
            <a:endParaRPr lang="en-US" b="1" dirty="0"/>
          </a:p>
          <a:p>
            <a:pPr>
              <a:buNone/>
            </a:pPr>
            <a:r>
              <a:rPr lang="en-US" b="1" dirty="0"/>
              <a:t>Profession:</a:t>
            </a:r>
            <a:r>
              <a:rPr lang="en-US" dirty="0"/>
              <a:t> Sustainable fashion blogger &amp; content creator</a:t>
            </a:r>
            <a:br>
              <a:rPr lang="en-US" dirty="0"/>
            </a:br>
            <a:r>
              <a:rPr lang="en-US" b="1" dirty="0"/>
              <a:t>Content:</a:t>
            </a:r>
            <a:r>
              <a:rPr lang="en-US" dirty="0"/>
              <a:t> Showcases eco-friendly outfits, styling tips, and upcycling tutorials</a:t>
            </a:r>
          </a:p>
          <a:p>
            <a:pPr>
              <a:buNone/>
            </a:pPr>
            <a:r>
              <a:rPr lang="en-US" b="1" dirty="0"/>
              <a:t>Audience:</a:t>
            </a:r>
            <a:r>
              <a:rPr lang="en-US" dirty="0"/>
              <a:t> ~</a:t>
            </a:r>
            <a:r>
              <a:rPr lang="en-US" dirty="0" err="1"/>
              <a:t>35K</a:t>
            </a:r>
            <a:r>
              <a:rPr lang="en-US" dirty="0"/>
              <a:t> followers (ages 20–40), conscious shoppers and young professionals interested in sustainability and style</a:t>
            </a:r>
          </a:p>
          <a:p>
            <a:pPr>
              <a:buNone/>
            </a:pPr>
            <a:r>
              <a:rPr lang="en-US" b="1" dirty="0"/>
              <a:t>Brand Fit:</a:t>
            </a:r>
            <a:r>
              <a:rPr lang="en-US" dirty="0"/>
              <a:t> Advocates for responsible fashion, inclusivity, and creativity — aligning with the brand’s values of sustainability and self-expression</a:t>
            </a:r>
          </a:p>
          <a:p>
            <a:pPr>
              <a:buNone/>
            </a:pPr>
            <a:r>
              <a:rPr lang="en-US" b="1" dirty="0"/>
              <a:t>Community Role:</a:t>
            </a:r>
            <a:r>
              <a:rPr lang="en-US" dirty="0"/>
              <a:t> Partners with local thrift shops for clothing drives, hosts weekend “Style Swap” events, and mentors college students on sustainable fashion</a:t>
            </a:r>
          </a:p>
          <a:p>
            <a:pPr>
              <a:buNone/>
            </a:pPr>
            <a:r>
              <a:rPr lang="en-IN" b="1" dirty="0"/>
              <a:t>Store Impact:</a:t>
            </a:r>
          </a:p>
          <a:p>
            <a:pPr marL="285750" indent="-285750">
              <a:buFont typeface="Arial" panose="020B0604020202020204" pitchFamily="34" charset="0"/>
              <a:buChar char="•"/>
            </a:pPr>
            <a:r>
              <a:rPr lang="en-US" dirty="0"/>
              <a:t>Host in-store “Eco Edit” styling sessions.</a:t>
            </a:r>
          </a:p>
          <a:p>
            <a:pPr marL="285750" indent="-285750">
              <a:buFont typeface="Arial" panose="020B0604020202020204" pitchFamily="34" charset="0"/>
              <a:buChar char="•"/>
            </a:pPr>
            <a:r>
              <a:rPr lang="en-US" dirty="0"/>
              <a:t>Curate “Maya’s Sustainable Picks” product display.</a:t>
            </a:r>
          </a:p>
          <a:p>
            <a:pPr marL="285750" indent="-285750">
              <a:buFont typeface="Arial" panose="020B0604020202020204" pitchFamily="34" charset="0"/>
              <a:buChar char="•"/>
            </a:pPr>
            <a:r>
              <a:rPr lang="en-US" dirty="0"/>
              <a:t>Promote new conscious collection launches through authentic social content.</a:t>
            </a: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24613"/>
            <a:ext cx="7965461" cy="994164"/>
          </a:xfrm>
        </p:spPr>
        <p:txBody>
          <a:bodyPr/>
          <a:lstStyle/>
          <a:p>
            <a:r>
              <a:rPr lang="en-US" dirty="0"/>
              <a:t>Local impact summary </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1371600"/>
            <a:ext cx="7965460" cy="4429127"/>
          </a:xfrm>
        </p:spPr>
        <p:txBody>
          <a:bodyPr/>
          <a:lstStyle/>
          <a:p>
            <a:pPr marL="0" indent="0">
              <a:buNone/>
            </a:pPr>
            <a:r>
              <a:rPr lang="en-IN" b="1" dirty="0">
                <a:latin typeface="Arial" panose="020B0604020202020204" pitchFamily="34" charset="0"/>
                <a:cs typeface="Arial" panose="020B0604020202020204" pitchFamily="34" charset="0"/>
              </a:rPr>
              <a:t>Ambassador Strengths Comparison</a:t>
            </a:r>
          </a:p>
          <a:p>
            <a:r>
              <a:rPr lang="en-US" sz="1300" dirty="0">
                <a:latin typeface="Arial" panose="020B0604020202020204" pitchFamily="34" charset="0"/>
                <a:cs typeface="Arial" panose="020B0604020202020204" pitchFamily="34" charset="0"/>
              </a:rPr>
              <a:t>Jordan Ellis (Austin, TX): Fitness-focused, community-driven, promotes wellness and performance.</a:t>
            </a:r>
          </a:p>
          <a:p>
            <a:r>
              <a:rPr lang="en-US" sz="1300" dirty="0">
                <a:latin typeface="Arial" panose="020B0604020202020204" pitchFamily="34" charset="0"/>
                <a:cs typeface="Arial" panose="020B0604020202020204" pitchFamily="34" charset="0"/>
              </a:rPr>
              <a:t>Maya Thompson (Seattle, WA): Fashion-conscious, sustainability advocate, promotes creativity and responsible style.</a:t>
            </a:r>
          </a:p>
          <a:p>
            <a:pPr marL="0" indent="0">
              <a:buNone/>
            </a:pPr>
            <a:r>
              <a:rPr lang="en-US" b="1" dirty="0">
                <a:latin typeface="Arial" panose="020B0604020202020204" pitchFamily="34" charset="0"/>
                <a:cs typeface="Arial" panose="020B0604020202020204" pitchFamily="34" charset="0"/>
              </a:rPr>
              <a:t>Combined Impact on Brand Strategy</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Together, they embody the brand’s values of well-being, inclusivity, and sustainability.</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Their authentic voices connect with different local audiences—Jordan inspires active lifestyles, while Maya drives conscious fashion choices—creating a powerful, well-rounded hyperlocal presence.</a:t>
            </a:r>
          </a:p>
          <a:p>
            <a:pPr marL="0" indent="0">
              <a:buNone/>
            </a:pPr>
            <a:r>
              <a:rPr lang="en-IN" b="1" dirty="0">
                <a:latin typeface="Arial" panose="020B0604020202020204" pitchFamily="34" charset="0"/>
                <a:cs typeface="Arial" panose="020B0604020202020204" pitchFamily="34" charset="0"/>
              </a:rPr>
              <a:t>Campaign Ideas &amp; Store Activations</a:t>
            </a:r>
          </a:p>
          <a:p>
            <a:r>
              <a:rPr lang="en-US" sz="1300" dirty="0">
                <a:latin typeface="Arial" panose="020B0604020202020204" pitchFamily="34" charset="0"/>
                <a:cs typeface="Arial" panose="020B0604020202020204" pitchFamily="34" charset="0"/>
              </a:rPr>
              <a:t>“Move &amp; Style Weekend” Series: Fitness session with Jordan followed by sustainable styling workshops with Maya, linking wellness and fashion.</a:t>
            </a:r>
          </a:p>
          <a:p>
            <a:r>
              <a:rPr lang="en-US" sz="1300" dirty="0">
                <a:latin typeface="Arial" panose="020B0604020202020204" pitchFamily="34" charset="0"/>
                <a:cs typeface="Arial" panose="020B0604020202020204" pitchFamily="34" charset="0"/>
              </a:rPr>
              <a:t>“Local Voices Spotlight”: Monthly in-store feature showcasing each ambassador’s curated picks, community stories, and exclusive product recommendations.</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{5BAC2A54-5473-4A38-9DFA-222884511EDC}tf78438558_win32</Template>
  <TotalTime>33</TotalTime>
  <Words>501</Words>
  <Application>Microsoft Office PowerPoint</Application>
  <PresentationFormat>Widescreen</PresentationFormat>
  <Paragraphs>27</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Arial Black</vt:lpstr>
      <vt:lpstr>Calibri</vt:lpstr>
      <vt:lpstr>Sabon Next LT</vt:lpstr>
      <vt:lpstr>Custom</vt:lpstr>
      <vt:lpstr>Local  ambassador strategy pitch</vt:lpstr>
      <vt:lpstr>PowerPoint Presentation</vt:lpstr>
      <vt:lpstr>name: Jordan Ellis – Austin, TX Profession: Track coach &amp; wellness creator Content: Fitness, mindfulness, and recovery tips Audience: ~28K (ages 18–35), active and engaged local community Brand Fit: Promotes inclusion, confidence, and well-being Community Role: Hosts “Mindful Miles” runs &amp; youth clinics Store Impact: Leads “Train With Me” events and “Coach’s Picks” displays </vt:lpstr>
      <vt:lpstr>PowerPoint Presentation</vt:lpstr>
      <vt:lpstr>Local impact 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Varad Nagilla</dc:creator>
  <cp:lastModifiedBy>Varad Nagilla</cp:lastModifiedBy>
  <cp:revision>1</cp:revision>
  <dcterms:created xsi:type="dcterms:W3CDTF">2025-10-25T17:06:18Z</dcterms:created>
  <dcterms:modified xsi:type="dcterms:W3CDTF">2025-10-25T17:39:43Z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